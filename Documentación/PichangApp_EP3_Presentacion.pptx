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5JLoFIPHkC+roGD041Zl4dzt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586AF0-4D0C-47FF-871E-816DE1D41D28}">
  <a:tblStyle styleId="{F5586AF0-4D0C-47FF-871E-816DE1D41D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74c2f95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c74c2f95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c74c2f95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5E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91840" y="640080"/>
            <a:ext cx="2560320" cy="1371600"/>
          </a:xfrm>
          <a:prstGeom prst="roundRect">
            <a:avLst>
              <a:gd fmla="val 10000" name="adj"/>
            </a:avLst>
          </a:prstGeom>
          <a:solidFill>
            <a:srgbClr val="2E7D32"/>
          </a:solidFill>
          <a:ln cap="flat" cmpd="sng" w="254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91840" y="6858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🏟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PichangApp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Gestión Deportiva Inteligente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0" y="3611880"/>
            <a:ext cx="4572000" cy="502920"/>
          </a:xfrm>
          <a:prstGeom prst="roundRect">
            <a:avLst>
              <a:gd fmla="val 18182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286000" y="36118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DEFENSA EVALUACIÓN PARCIAL N°3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Esteban Mora  •  David Salazar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TPY1101 — Taller Aplicado de Programación  |  Grupo 11 — Sección 002V  |  Duoc UC  |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371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13232" y="1609344"/>
            <a:ext cx="502920" cy="502920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13232" y="1609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25880" y="1883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Resumen EP1 y EP2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663440" y="1371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828032" y="1609344"/>
            <a:ext cx="502920" cy="50292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828032" y="1609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4068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Descripción del Plan de Pruebas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40680" y="1883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Estrategia y tipos de prueba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2514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E8F5E9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13232" y="2752344"/>
            <a:ext cx="502920" cy="502920"/>
          </a:xfrm>
          <a:prstGeom prst="ellipse">
            <a:avLst/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13232" y="2752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25880" y="2697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Aplicación del Plan y Resultados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25880" y="3026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Pruebas unitarias y de validación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63440" y="2514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828032" y="2752344"/>
            <a:ext cx="502920" cy="502920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28032" y="2752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40680" y="2697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Mejoras Realizadas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40680" y="3026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Tras pruebas y feedback docente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3657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E8F5E9"/>
          </a:solidFill>
          <a:ln cap="flat" cmpd="sng" w="1270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13232" y="3895344"/>
            <a:ext cx="502920" cy="502920"/>
          </a:xfrm>
          <a:prstGeom prst="ellipse">
            <a:avLst/>
          </a:prstGeom>
          <a:solidFill>
            <a:srgbClr val="388E3C"/>
          </a:solidFill>
          <a:ln cap="flat" cmpd="sng" w="1270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13232" y="3895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325880" y="3840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Modelo de Financiamiento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25880" y="4169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Sostenibilidad del proyecto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63440" y="3657600"/>
            <a:ext cx="39319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28032" y="3895344"/>
            <a:ext cx="502920" cy="502920"/>
          </a:xfrm>
          <a:prstGeom prst="ellipse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28032" y="3895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40680" y="3840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40680" y="41696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Lecciones aprendidas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RESUMEN EP1 + EP2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El problema: sedentarismo y deserción deportiva en Chile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1600200"/>
            <a:ext cx="2468880" cy="1234440"/>
          </a:xfrm>
          <a:prstGeom prst="roundRect">
            <a:avLst>
              <a:gd fmla="val 740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48640" y="16916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86.7%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2286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Población chilena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sedentaria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91840" y="1600200"/>
            <a:ext cx="2468880" cy="1234440"/>
          </a:xfrm>
          <a:prstGeom prst="roundRect">
            <a:avLst>
              <a:gd fmla="val 7407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91840" y="16916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74.2%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91840" y="2286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Sobrepeso 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obesidad (OCDE)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035040" y="1600200"/>
            <a:ext cx="2468880" cy="1234440"/>
          </a:xfrm>
          <a:prstGeom prst="roundRect">
            <a:avLst>
              <a:gd fmla="val 740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035040" y="16916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b="1" lang="en-US" sz="3200">
                <a:solidFill>
                  <a:srgbClr val="FFFFFF"/>
                </a:solidFill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035040" y="2286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Chile 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OCDE sobrepeso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3063240"/>
            <a:ext cx="8046720" cy="640080"/>
          </a:xfrm>
          <a:prstGeom prst="roundRect">
            <a:avLst>
              <a:gd fmla="val 11429" name="adj"/>
            </a:avLst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solución: PichangApp conecta deportistas por geolocalización y reduce la deserción con un Sistema de Karma que premia la asistencia y penaliza el incumplimiento.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MVP entregado (EP2): 5 microservicios en Railway  •  App Android nativa  •  Panel admin web en Vercel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CONTEXTO TÉCNICO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Arquitectura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560320" y="1188720"/>
            <a:ext cx="4023360" cy="457200"/>
          </a:xfrm>
          <a:prstGeom prst="roundRect">
            <a:avLst>
              <a:gd fmla="val 12000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560320" y="11887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📱 App Android (Kotlin + Compose)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560320" y="1783080"/>
            <a:ext cx="4023360" cy="457200"/>
          </a:xfrm>
          <a:prstGeom prst="roundRect">
            <a:avLst>
              <a:gd fmla="val 12000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2560320" y="17830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🔀 API Gateway (Spring Cloud Gateway + JWT)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77240" y="2423160"/>
            <a:ext cx="1737360" cy="640080"/>
          </a:xfrm>
          <a:prstGeom prst="roundRect">
            <a:avLst>
              <a:gd fmla="val 8571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7724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:8083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0" y="2423160"/>
            <a:ext cx="1737360" cy="640080"/>
          </a:xfrm>
          <a:prstGeom prst="roundRect">
            <a:avLst>
              <a:gd fmla="val 8571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74320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karma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:8082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09160" y="2423160"/>
            <a:ext cx="1737360" cy="640080"/>
          </a:xfrm>
          <a:prstGeom prst="roundRect">
            <a:avLst>
              <a:gd fmla="val 8571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70916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:8084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675120" y="2423160"/>
            <a:ext cx="1737360" cy="640080"/>
          </a:xfrm>
          <a:prstGeom prst="roundRect">
            <a:avLst>
              <a:gd fmla="val 8571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67512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:8081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103120" y="3246120"/>
            <a:ext cx="4937760" cy="502920"/>
          </a:xfrm>
          <a:prstGeom prst="roundRect">
            <a:avLst>
              <a:gd fmla="val 10909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103120" y="3246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🗄 MySQL 8 — Railway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3977640"/>
            <a:ext cx="8046720" cy="914400"/>
          </a:xfrm>
          <a:prstGeom prst="roundRect">
            <a:avLst>
              <a:gd fmla="val 8000" name="adj"/>
            </a:avLst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CI/CD: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push a main → Railway redeploy automático.    </a:t>
            </a:r>
            <a:r>
              <a:rPr b="1" i="0" lang="en-US" sz="12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Seguridad: </a:t>
            </a: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JWT centralizado en el gateway + JWT interno entre microservicios.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ESTRATEGIA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Descripción del Plan de Pruebas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Plan de pruebas integral con 4 estrategias complementarias alineadas a la problemática: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1691640"/>
            <a:ext cx="393192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48640" y="169164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48640" y="1865376"/>
            <a:ext cx="3931920" cy="173736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58368" y="172821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🧩  Unitarias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58368" y="2130552"/>
            <a:ext cx="37124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JUnit 5 + Mockito. Validan la lógica de negocio aislada de cada microservicio.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663440" y="1691640"/>
            <a:ext cx="393192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663440" y="169164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663440" y="1865376"/>
            <a:ext cx="3931920" cy="173736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773168" y="172821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🔗  Integración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73168" y="2130552"/>
            <a:ext cx="37124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Postman / PowerShell. Verifican la comunicación entre microservicios vía API Gateway.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3154680"/>
            <a:ext cx="393192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905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48640" y="315468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48640" y="3328416"/>
            <a:ext cx="3931920" cy="173736"/>
          </a:xfrm>
          <a:prstGeom prst="rect">
            <a:avLst/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58368" y="319125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📱  Validación 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58368" y="3593592"/>
            <a:ext cx="37124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Dispositivo real + capturas. Confirman la funcionalidad de extremo a extremo.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663440" y="3154680"/>
            <a:ext cx="393192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663440" y="315468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663440" y="3328416"/>
            <a:ext cx="3931920" cy="173736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773168" y="319125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🔒 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773168" y="3593592"/>
            <a:ext cx="37124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JWT, roles, protección de endpoints y datos sensibles (BCrypt, secrets).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Base de datos de pruebas: producción Railway (datos reales) + mocks Mockito para tests unitarios.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Aplicación del Plan: Pruebas Unitarias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1280160"/>
            <a:ext cx="1463040" cy="1051560"/>
          </a:xfrm>
          <a:prstGeom prst="roundRect">
            <a:avLst>
              <a:gd fmla="val 8696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48640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1901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176272" y="1280160"/>
            <a:ext cx="1463040" cy="1051560"/>
          </a:xfrm>
          <a:prstGeom prst="roundRect">
            <a:avLst>
              <a:gd fmla="val 8696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176272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176272" y="1901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803904" y="1280160"/>
            <a:ext cx="1463040" cy="1051560"/>
          </a:xfrm>
          <a:prstGeom prst="roundRect">
            <a:avLst>
              <a:gd fmla="val 8696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803904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803904" y="1901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31536" y="1280160"/>
            <a:ext cx="1463040" cy="1051560"/>
          </a:xfrm>
          <a:prstGeom prst="roundRect">
            <a:avLst>
              <a:gd fmla="val 8696" name="adj"/>
            </a:avLst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431536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31536" y="1901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justificados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059168" y="1280160"/>
            <a:ext cx="1463040" cy="1051560"/>
          </a:xfrm>
          <a:prstGeom prst="roundRect">
            <a:avLst>
              <a:gd fmla="val 8696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059168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059168" y="1901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Tasa 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éxito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6"/>
          <p:cNvGraphicFramePr/>
          <p:nvPr/>
        </p:nvGraphicFramePr>
        <p:xfrm>
          <a:off x="54864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{F5586AF0-4D0C-47FF-871E-816DE1D41D28}</a:tableStyleId>
              </a:tblPr>
              <a:tblGrid>
                <a:gridCol w="2743200"/>
                <a:gridCol w="1188725"/>
                <a:gridCol w="1188725"/>
                <a:gridCol w="1188725"/>
                <a:gridCol w="17373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Microservicio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SKIP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20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users-service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8E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SUCCESS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karma_service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8E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SUCCESS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notification-service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8E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SUCCESS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events-service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8E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SUCCESS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D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ec74c2f95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75" y="261175"/>
            <a:ext cx="54864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ec74c2f958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7100" y="2728925"/>
            <a:ext cx="54864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Aplicación del Plan: Validación Manual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30 pruebas manuales sobre app Android (dispositivo real) y panel admin (Vercel) — 100% PASS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48640" y="164592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0080" y="184708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34440" y="17830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34440" y="21214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6/6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91840" y="164592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383280" y="184708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977640" y="17830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Karma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977640" y="21214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✅ 4/4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035040" y="164592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126480" y="184708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720840" y="17830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720840" y="21214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✅ 9/9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274320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40080" y="294436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23444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234440" y="32186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✅ 3/3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91840" y="274320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383280" y="294436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97764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Panel Admin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977640" y="32186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✅ 6/6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035040" y="274320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126480" y="294436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72084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720840" y="32186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✅ 6/6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TRAS PRUEBAS Y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Mejoras Realizadas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9 mejoras aplicadas según estándares de calidad: seguridad, usabilidad, completitud, corrección y pertinencia.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" y="1600200"/>
            <a:ext cx="8046720" cy="566928"/>
          </a:xfrm>
          <a:prstGeom prst="roundRect">
            <a:avLst>
              <a:gd fmla="val 9677" name="adj"/>
            </a:avLst>
          </a:prstGeom>
          <a:solidFill>
            <a:srgbClr val="E8F5E9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85800" y="16002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🔒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651760" y="1600200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IDs ocultos en la UI • Rol ADMIN con JWT • JWT interno entre microservicios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2258568"/>
            <a:ext cx="80467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85800" y="2258568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🎨 Usabilidad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651760" y="2258568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Búsqueda de dirección en mapa (Places API) • Feedback rojo si dirección inválida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2916936"/>
            <a:ext cx="8046720" cy="566928"/>
          </a:xfrm>
          <a:prstGeom prst="roundRect">
            <a:avLst>
              <a:gd fmla="val 9677" name="adj"/>
            </a:avLst>
          </a:prstGeom>
          <a:solidFill>
            <a:srgbClr val="E8F5E9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85800" y="2916936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✅ Completitud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651760" y="2916936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Panel de administración web completo desplegado en Vercel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3575304"/>
            <a:ext cx="80467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85800" y="357530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🔧 Corrección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651760" y="3575304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Bug en test deleteEvent corregido • Migración SMTP → SendGrid HTTP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48640" y="4233672"/>
            <a:ext cx="8046720" cy="566928"/>
          </a:xfrm>
          <a:prstGeom prst="roundRect">
            <a:avLst>
              <a:gd fmla="val 9677" name="adj"/>
            </a:avLst>
          </a:prstGeom>
          <a:solidFill>
            <a:srgbClr val="E8F5E9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85800" y="423367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💰 Pertinencia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651760" y="4233672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Modelo de financiamiento Freemium alineado a la arquitectura cloud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SOSTENIBILIDAD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Modelo de Financiamiento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Modelo Freemium coherente con la arquitectura cloud-native (costos fijos y mínimos)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1645920"/>
            <a:ext cx="246888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48640" y="1645920"/>
            <a:ext cx="2468880" cy="457200"/>
          </a:xfrm>
          <a:prstGeom prst="roundRect">
            <a:avLst>
              <a:gd fmla="val 20000" name="adj"/>
            </a:avLst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48640" y="1874520"/>
            <a:ext cx="2468880" cy="228600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48640" y="16459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Gratuito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2194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48640" y="26334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CLP/mes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85800" y="285292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 eventos/mes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Participación ilimitada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Karma + notificaciones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291840" y="1645920"/>
            <a:ext cx="246888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291840" y="1645920"/>
            <a:ext cx="2468880" cy="45720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291840" y="1874520"/>
            <a:ext cx="2468880" cy="228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291840" y="16459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291840" y="2194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$2.990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291840" y="26334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CLP/mes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429000" y="285292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Eventos ilimitados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Estadísticas avanzadas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Notif. prioritarias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035040" y="1645920"/>
            <a:ext cx="246888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035040" y="1645920"/>
            <a:ext cx="2468880" cy="457200"/>
          </a:xfrm>
          <a:prstGeom prst="roundRect">
            <a:avLst>
              <a:gd fmla="val 20000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035040" y="1874520"/>
            <a:ext cx="2468880" cy="228600"/>
          </a:xfrm>
          <a:prstGeom prst="rect">
            <a:avLst/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035040" y="16459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Organizador Pro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035040" y="2194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$7.990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035040" y="26334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CLP/mes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172200" y="285292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Panel de estadísticas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Múltiples canchas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Historial exportable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3657600"/>
            <a:ext cx="8046720" cy="1280160"/>
          </a:xfrm>
          <a:prstGeom prst="roundRect">
            <a:avLst>
              <a:gd fmla="val 5714" name="adj"/>
            </a:avLst>
          </a:prstGeom>
          <a:solidFill>
            <a:srgbClr val="E8F5E9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Costo de infraestructura: ~USD $5/mes (≈ $4.800 CLP)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Railway $5 • Vercel $0 • SendGrid $0 • Firebase $0 • Google Maps 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⚖️  Punto de equilibrio: solo 2 usuarios Premium cubren toda la infraestructura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Conclusiones y Lecciones Aprendidas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1280160"/>
            <a:ext cx="39319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548640" y="128016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48640" y="1453896"/>
            <a:ext cx="3931920" cy="173736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58368" y="131673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MVP Completo y Probado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58368" y="1719072"/>
            <a:ext cx="37124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5 microservicios + app + panel admin en producción. 56 pruebas ejecutadas con 100% de éxito.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663440" y="1280160"/>
            <a:ext cx="39319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663440" y="128016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663440" y="1453896"/>
            <a:ext cx="3931920" cy="173736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773168" y="131673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🔒  Calidad y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773168" y="1719072"/>
            <a:ext cx="37124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JWT, roles, BCrypt, IDs ocultos. 9 mejoras aplicadas según estándares de la industria.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8640" y="3063240"/>
            <a:ext cx="39319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905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48640" y="306324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48640" y="3236976"/>
            <a:ext cx="3931920" cy="173736"/>
          </a:xfrm>
          <a:prstGeom prst="rect">
            <a:avLst/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58368" y="309981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💰  Sostenibilidad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58368" y="3502152"/>
            <a:ext cx="37124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Modelo Freemium con punto de equilibrio de 2 usuarios Premium. Costos cloud mínimos.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663440" y="3063240"/>
            <a:ext cx="39319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663440" y="3063240"/>
            <a:ext cx="3931920" cy="347472"/>
          </a:xfrm>
          <a:prstGeom prst="roundRect">
            <a:avLst>
              <a:gd fmla="val 21053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4663440" y="3236976"/>
            <a:ext cx="3931920" cy="173736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773168" y="3099816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📚  Lección Clave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773168" y="3502152"/>
            <a:ext cx="37124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Tests desde el inicio, seguridad inter-servicios temprana y supervisión de herramientas 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5E2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3657600" y="8229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🏟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PichangApp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¡Gracias! — Preguntas y Respuestas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Esteban Mora — Arquitecto / Programador     •     David Salazar — Product Owner / Desarrollador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TPY1101 — Duoc UC — Grupo 11 — Sección 002V —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pichang-app-admin.vercel.app  •  pichangapp-microservicios-production.up.railway.app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2026-06-16T00:17:04Z</dcterms:created>
  <dc:creator>Esteban Mora &amp; David Salazar</dc:creator>
</cp:coreProperties>
</file>